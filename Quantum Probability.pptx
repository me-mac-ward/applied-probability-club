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93e22fd75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93e22fd75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93e22fd75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93e22fd75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93e22fd75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93e22fd75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93e22fd75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93e22fd75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93e22fd75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93e22fd75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93e22fd75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93e22fd75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93e22fd75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93e22fd75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b7433fc2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b7433fc2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bc3b5d8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bc3b5d8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66" name="Google Shape;66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8" name="Google Shape;88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5" name="Google Shape;9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3" name="Google Shape;10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9" name="Google Shape;10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16" name="Google Shape;11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8" name="Google Shape;13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46" name="Google Shape;14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2" name="Google Shape;15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desmos.com/calculator/i5zrlna9ci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3537150" y="13498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Probability</a:t>
            </a:r>
            <a:endParaRPr/>
          </a:p>
        </p:txBody>
      </p:sp>
      <p:sp>
        <p:nvSpPr>
          <p:cNvPr id="180" name="Google Shape;180;p2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Mac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>
            <a:off x="1298262" y="185375"/>
            <a:ext cx="3622200" cy="4729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latin typeface="Lato"/>
                <a:ea typeface="Lato"/>
                <a:cs typeface="Lato"/>
                <a:sym typeface="Lato"/>
              </a:rPr>
              <a:t>Classical</a:t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Uncertainty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=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Ignorance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=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Probability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Imagine flipping a coin, the reason it’s 50/50 is because you don’t know the exact angular velocity, air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resistance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, friction etc..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5217745" y="207000"/>
            <a:ext cx="3622200" cy="47295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latin typeface="Lato"/>
                <a:ea typeface="Lato"/>
                <a:cs typeface="Lato"/>
                <a:sym typeface="Lato"/>
              </a:rPr>
              <a:t>Quantum</a:t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Uncertainty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=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Probability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≠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Ignorance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The more precisely you measure momentum (velocity) the less precisely you know position.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1298262" y="185375"/>
            <a:ext cx="3622200" cy="4729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latin typeface="Lato"/>
                <a:ea typeface="Lato"/>
                <a:cs typeface="Lato"/>
                <a:sym typeface="Lato"/>
              </a:rPr>
              <a:t>Classical</a:t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Probability is [0,1]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Probability sums to 1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5217745" y="207000"/>
            <a:ext cx="3622200" cy="47295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latin typeface="Lato"/>
                <a:ea typeface="Lato"/>
                <a:cs typeface="Lato"/>
                <a:sym typeface="Lato"/>
              </a:rPr>
              <a:t>Quantum</a:t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Probability is |amplitude|</a:t>
            </a:r>
            <a:r>
              <a:rPr baseline="30000" lang="en" sz="2000">
                <a:latin typeface="Lato"/>
                <a:ea typeface="Lato"/>
                <a:cs typeface="Lato"/>
                <a:sym typeface="Lato"/>
              </a:rPr>
              <a:t>2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Probability sums to 1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Yes probability is a complex number, as there is both magnitude and phase.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1245750" y="1101822"/>
            <a:ext cx="7038900" cy="25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00"/>
              <a:t>|(a+bi)+(c+di)|</a:t>
            </a:r>
            <a:r>
              <a:rPr baseline="30000" lang="en" sz="2500"/>
              <a:t>2</a:t>
            </a:r>
            <a:r>
              <a:rPr lang="en" sz="2500"/>
              <a:t> ≠ |a+bi|</a:t>
            </a:r>
            <a:r>
              <a:rPr baseline="30000" lang="en" sz="2500"/>
              <a:t>2</a:t>
            </a:r>
            <a:r>
              <a:rPr lang="en" sz="2500"/>
              <a:t> + |c+di|</a:t>
            </a:r>
            <a:r>
              <a:rPr baseline="30000" lang="en" sz="2500"/>
              <a:t>2</a:t>
            </a:r>
            <a:endParaRPr sz="2500"/>
          </a:p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00"/>
              <a:t>|(a+bi)+(c+di)|</a:t>
            </a:r>
            <a:r>
              <a:rPr baseline="30000" lang="en" sz="2500"/>
              <a:t>2</a:t>
            </a:r>
            <a:r>
              <a:rPr lang="en" sz="2500"/>
              <a:t>=|(a+c)+(b+d)i|=√(a+c)</a:t>
            </a:r>
            <a:r>
              <a:rPr baseline="30000" lang="en" sz="2500"/>
              <a:t>2</a:t>
            </a:r>
            <a:r>
              <a:rPr lang="en" sz="2500"/>
              <a:t> + (b+d)</a:t>
            </a:r>
            <a:r>
              <a:rPr baseline="30000" lang="en" sz="2500"/>
              <a:t>2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2500"/>
          </a:p>
          <a:p>
            <a:pPr indent="-37544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2500"/>
              <a:t>This means there can be </a:t>
            </a:r>
            <a:r>
              <a:rPr lang="en" sz="2500"/>
              <a:t>interference–like waves…</a:t>
            </a:r>
            <a:endParaRPr sz="2500"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975" y="3500250"/>
            <a:ext cx="3448018" cy="164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" y="3500250"/>
            <a:ext cx="3448018" cy="164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wavefunction?</a:t>
            </a:r>
            <a:endParaRPr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1070700" y="1567550"/>
            <a:ext cx="7265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 wavefunction ψ(x) assigns an amplitude to each position x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The probability of finding the particle at x is given by |</a:t>
            </a:r>
            <a:r>
              <a:rPr lang="en" sz="2000"/>
              <a:t>ψ(x)|</a:t>
            </a:r>
            <a:r>
              <a:rPr baseline="30000" lang="en" sz="2000"/>
              <a:t>2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But ψ(x) is continuous, so ψ(k) = 0 …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/>
        </p:nvSpPr>
        <p:spPr>
          <a:xfrm>
            <a:off x="-125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Integration!!!</a:t>
            </a:r>
            <a:endParaRPr sz="7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Probabilities!!!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P(x to x+dx) = |</a:t>
            </a:r>
            <a:r>
              <a:rPr lang="en"/>
              <a:t>ψ(x)|</a:t>
            </a:r>
            <a:r>
              <a:rPr baseline="30000" lang="en"/>
              <a:t>2</a:t>
            </a:r>
            <a:r>
              <a:rPr lang="en"/>
              <a:t>dx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This means ψ(x) is not a probability, but a probability density function (PDF)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https://www.desmos.com/calculator/i5zrlna9ci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/>
          </a:p>
        </p:txBody>
      </p:sp>
      <p:pic>
        <p:nvPicPr>
          <p:cNvPr id="217" name="Google Shape;217;p31" title="{&quot;red&quot;:255,&quot;green&quot;:255,&quot;blue&quot;:255,&quot;origURL&quot;:&quot;https://www.codecogs.com/eqnedit.php?latex=%5Cint_%7B-%5Cinfty%7D%5E%7B%5Cinfty%7D%20%7C%5Cpsi(x)%7C%5E2%20%20dx%20%3D%201#0&quot;,&quot;size&quot;:13,&quot;width&quot;:313.2755905511811,&quot;height&quot;:50.3622047244094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975" y="3682087"/>
            <a:ext cx="2667900" cy="7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Values</a:t>
            </a:r>
            <a:endParaRPr/>
          </a:p>
        </p:txBody>
      </p:sp>
      <p:pic>
        <p:nvPicPr>
          <p:cNvPr id="223" name="Google Shape;223;p32" title="{&quot;red&quot;:255,&quot;green&quot;:255,&quot;blue&quot;:255,&quot;origURL&quot;:&quot;https://www.codecogs.com/eqnedit.php?latex=%5Clangle%20x%20%5Crangle%20%3D%20%5Cint%20x%20%7C%20%5Cpsi%20(x)%20%7C%5E2%20dx#0&quot;,&quot;size&quot;:13,&quot;width&quot;:410.76377952755905,&quot;height&quot;:173.0787401574803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875" y="1162211"/>
            <a:ext cx="5222149" cy="14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/>
        </p:nvSpPr>
        <p:spPr>
          <a:xfrm>
            <a:off x="311700" y="220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THANKS FOR LISTENING</a:t>
            </a:r>
            <a:b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MERCI DE VOTRE ÉCOUTE</a:t>
            </a:r>
            <a:b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GRACIAS POR ESCUCHAR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सुनने के लिए धन्यवाद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DANKE FÜRS ZUHÖREN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感謝您的聆聽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ご清聴ありがとうございました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DZIĘKI ZA SŁUCHANIE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들어주셔서 감사합니다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MULȚUMESC PENTRU ASCULTARE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شكرا على الاستماع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СПАСИБО ЗА СЛУШАНИЕ</a:t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